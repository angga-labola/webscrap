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presentation: John Calvin: Architect of the Reformed Tradition.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examine John Calvin, one of the most influential figures of the Protestant Reformation. This agenda highlights his transformation from French jurist to theological reformer, his work in Geneva, and his lasting global imprint across religious and civic spheres.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milestones illustrate the immense productivity and reach of Calvin's career. Publishing the Institutes at only 26 established his reputation. Over a quarter-century in Geneva, his Academy and pastoral network transformed Geneva into an international hub for the Reformation.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Calvin's distinct contribution was marrying systematic theology with robust civic institutions. In Geneva, he instituted a presbyterian model of shared church leadership among ministers and lay elders, alongside extensive refugee support and public education programs.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Institutes, Calvin produced commentaries characterized by clarity and restraint. Importantly, his theology of vocation dignified daily labor, dismantling the medieval hierarchy between sacred monastic vows and secular trades.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John Calvin remains an indispensable architect of the modern world. His emphasis on accountable institutional leadership, universal literacy, and human calling continues to resonate. I invite you to explore his primary writings to evaluate his legacy firsthand.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0" y="0"/>
            <a:ext cx="44192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635240" y="0"/>
            <a:ext cx="137160"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463040"/>
            <a:ext cx="2377440" cy="384048"/>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PRESENTATION</a:t>
            </a:r>
          </a:p>
        </p:txBody>
      </p:sp>
      <p:sp>
        <p:nvSpPr>
          <p:cNvPr id="6" name="TextBox 5"/>
          <p:cNvSpPr txBox="1"/>
          <p:nvPr/>
        </p:nvSpPr>
        <p:spPr>
          <a:xfrm>
            <a:off x="1097280" y="2011680"/>
            <a:ext cx="6217920" cy="2194560"/>
          </a:xfrm>
          <a:prstGeom prst="rect">
            <a:avLst/>
          </a:prstGeom>
          <a:noFill/>
        </p:spPr>
        <p:txBody>
          <a:bodyPr wrap="square">
            <a:spAutoFit/>
          </a:bodyPr>
          <a:lstStyle/>
          <a:p>
            <a:pPr>
              <a:defRPr sz="3600" b="1">
                <a:solidFill>
                  <a:srgbClr val="FFFFFF"/>
                </a:solidFill>
                <a:latin typeface="Segoe UI"/>
              </a:defRPr>
            </a:pPr>
            <a:r>
              <a:t>John Calvin: Architect of the Reformed Tradition</a:t>
            </a:r>
          </a:p>
        </p:txBody>
      </p:sp>
      <p:sp>
        <p:nvSpPr>
          <p:cNvPr id="7" name="TextBox 6"/>
          <p:cNvSpPr txBox="1"/>
          <p:nvPr/>
        </p:nvSpPr>
        <p:spPr>
          <a:xfrm>
            <a:off x="1097280" y="4297680"/>
            <a:ext cx="6217920" cy="1097280"/>
          </a:xfrm>
          <a:prstGeom prst="rect">
            <a:avLst/>
          </a:prstGeom>
          <a:noFill/>
        </p:spPr>
        <p:txBody>
          <a:bodyPr wrap="square">
            <a:spAutoFit/>
          </a:bodyPr>
          <a:lstStyle/>
          <a:p>
            <a:pPr>
              <a:defRPr sz="1600">
                <a:solidFill>
                  <a:srgbClr val="94A3B8"/>
                </a:solidFill>
                <a:latin typeface="Calibri"/>
              </a:defRPr>
            </a:pPr>
            <a:r>
              <a:t>Theology, Civic Governance, and the Enduring Legacy of the Genevan Reformation</a:t>
            </a:r>
          </a:p>
        </p:txBody>
      </p:sp>
      <p:sp>
        <p:nvSpPr>
          <p:cNvPr id="8" name="TextBox 7"/>
          <p:cNvSpPr txBox="1"/>
          <p:nvPr/>
        </p:nvSpPr>
        <p:spPr>
          <a:xfrm>
            <a:off x="8229600" y="2743200"/>
            <a:ext cx="3474720" cy="1828800"/>
          </a:xfrm>
          <a:prstGeom prst="rect">
            <a:avLst/>
          </a:prstGeom>
          <a:noFill/>
        </p:spPr>
        <p:txBody>
          <a:bodyPr wrap="square">
            <a:spAutoFit/>
          </a:bodyPr>
          <a:lstStyle/>
          <a:p>
            <a:pPr>
              <a:defRPr sz="1400" b="1">
                <a:solidFill>
                  <a:srgbClr val="FFFFFF"/>
                </a:solidFill>
                <a:latin typeface="Segoe UI"/>
              </a:defRPr>
            </a:pPr>
            <a:r>
              <a:t>Presented By:</a:t>
            </a:r>
            <a:br/>
            <a:r>
              <a:t>Historical &amp; Theological Studies</a:t>
            </a:r>
          </a:p>
          <a:p>
            <a:br/>
            <a:pPr>
              <a:defRPr sz="1200">
                <a:solidFill>
                  <a:srgbClr val="94A3B8"/>
                </a:solidFill>
                <a:latin typeface="Calibri"/>
              </a:defRPr>
            </a:pPr>
            <a:r>
              <a:t>Date:</a:t>
            </a:r>
            <a:br/>
            <a: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1E40AF"/>
                </a:solidFill>
                <a:latin typeface="Segoe UI"/>
              </a:defRPr>
            </a:pPr>
            <a:r>
              <a:t>OVERVIEW</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Overview of Calvin's Life &amp; Impact</a:t>
            </a:r>
          </a:p>
        </p:txBody>
      </p:sp>
      <p:sp>
        <p:nvSpPr>
          <p:cNvPr id="5" name="TextBox 4"/>
          <p:cNvSpPr txBox="1"/>
          <p:nvPr/>
        </p:nvSpPr>
        <p:spPr>
          <a:xfrm>
            <a:off x="731520" y="1188720"/>
            <a:ext cx="10698480" cy="365760"/>
          </a:xfrm>
          <a:prstGeom prst="rect">
            <a:avLst/>
          </a:prstGeom>
          <a:noFill/>
        </p:spPr>
        <p:txBody>
          <a:bodyPr wrap="square">
            <a:spAutoFit/>
          </a:bodyPr>
          <a:lstStyle/>
          <a:p>
            <a:pPr>
              <a:defRPr sz="1300">
                <a:solidFill>
                  <a:srgbClr val="334155"/>
                </a:solidFill>
                <a:latin typeface="Calibri"/>
              </a:defRPr>
            </a:pPr>
            <a:r>
              <a:t>Charting the journey from French humanist scholar to foundational Protestant Reformer</a:t>
            </a:r>
          </a:p>
        </p:txBody>
      </p:sp>
      <p:sp>
        <p:nvSpPr>
          <p:cNvPr id="6" name="Rectangle 5"/>
          <p:cNvSpPr/>
          <p:nvPr/>
        </p:nvSpPr>
        <p:spPr>
          <a:xfrm>
            <a:off x="731520" y="1554480"/>
            <a:ext cx="22860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103120"/>
            <a:ext cx="2468880" cy="3840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2331720"/>
            <a:ext cx="640080" cy="36576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FFFFFF"/>
                </a:solidFill>
              </a:defRPr>
            </a:pPr>
            <a:r>
              <a:t>01</a:t>
            </a:r>
          </a:p>
        </p:txBody>
      </p:sp>
      <p:sp>
        <p:nvSpPr>
          <p:cNvPr id="9" name="TextBox 8"/>
          <p:cNvSpPr txBox="1"/>
          <p:nvPr/>
        </p:nvSpPr>
        <p:spPr>
          <a:xfrm>
            <a:off x="914400" y="2834640"/>
            <a:ext cx="2103120" cy="914400"/>
          </a:xfrm>
          <a:prstGeom prst="rect">
            <a:avLst/>
          </a:prstGeom>
          <a:noFill/>
        </p:spPr>
        <p:txBody>
          <a:bodyPr wrap="square">
            <a:spAutoFit/>
          </a:bodyPr>
          <a:lstStyle/>
          <a:p>
            <a:pPr>
              <a:defRPr sz="1600" b="1">
                <a:solidFill>
                  <a:srgbClr val="0F172A"/>
                </a:solidFill>
                <a:latin typeface="Segoe UI"/>
              </a:defRPr>
            </a:pPr>
            <a:r>
              <a:t>Early Life &amp; Conversion</a:t>
            </a:r>
          </a:p>
        </p:txBody>
      </p:sp>
      <p:sp>
        <p:nvSpPr>
          <p:cNvPr id="10" name="TextBox 9"/>
          <p:cNvSpPr txBox="1"/>
          <p:nvPr/>
        </p:nvSpPr>
        <p:spPr>
          <a:xfrm>
            <a:off x="914400" y="3749040"/>
            <a:ext cx="2103120" cy="1920240"/>
          </a:xfrm>
          <a:prstGeom prst="rect">
            <a:avLst/>
          </a:prstGeom>
          <a:noFill/>
        </p:spPr>
        <p:txBody>
          <a:bodyPr wrap="square">
            <a:spAutoFit/>
          </a:bodyPr>
          <a:lstStyle/>
          <a:p>
            <a:pPr>
              <a:defRPr sz="1200">
                <a:solidFill>
                  <a:srgbClr val="334155"/>
                </a:solidFill>
                <a:latin typeface="Calibri"/>
              </a:defRPr>
            </a:pPr>
            <a:r>
              <a:t>Humanist education in France and sudden conversion to Protestantism.</a:t>
            </a:r>
          </a:p>
        </p:txBody>
      </p:sp>
      <p:sp>
        <p:nvSpPr>
          <p:cNvPr id="11" name="Rounded Rectangle 10"/>
          <p:cNvSpPr/>
          <p:nvPr/>
        </p:nvSpPr>
        <p:spPr>
          <a:xfrm>
            <a:off x="3474720" y="2103120"/>
            <a:ext cx="2468880" cy="3840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0" y="2331720"/>
            <a:ext cx="640080" cy="36576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FFFFFF"/>
                </a:solidFill>
              </a:defRPr>
            </a:pPr>
            <a:r>
              <a:t>02</a:t>
            </a:r>
          </a:p>
        </p:txBody>
      </p:sp>
      <p:sp>
        <p:nvSpPr>
          <p:cNvPr id="13" name="TextBox 12"/>
          <p:cNvSpPr txBox="1"/>
          <p:nvPr/>
        </p:nvSpPr>
        <p:spPr>
          <a:xfrm>
            <a:off x="3657600" y="2834640"/>
            <a:ext cx="2103120" cy="914400"/>
          </a:xfrm>
          <a:prstGeom prst="rect">
            <a:avLst/>
          </a:prstGeom>
          <a:noFill/>
        </p:spPr>
        <p:txBody>
          <a:bodyPr wrap="square">
            <a:spAutoFit/>
          </a:bodyPr>
          <a:lstStyle/>
          <a:p>
            <a:pPr>
              <a:defRPr sz="1600" b="1">
                <a:solidFill>
                  <a:srgbClr val="0F172A"/>
                </a:solidFill>
                <a:latin typeface="Segoe UI"/>
              </a:defRPr>
            </a:pPr>
            <a:r>
              <a:t>Geneva &amp; Civic Reformation</a:t>
            </a:r>
          </a:p>
        </p:txBody>
      </p:sp>
      <p:sp>
        <p:nvSpPr>
          <p:cNvPr id="14" name="TextBox 13"/>
          <p:cNvSpPr txBox="1"/>
          <p:nvPr/>
        </p:nvSpPr>
        <p:spPr>
          <a:xfrm>
            <a:off x="3657600" y="3749040"/>
            <a:ext cx="2103120" cy="1920240"/>
          </a:xfrm>
          <a:prstGeom prst="rect">
            <a:avLst/>
          </a:prstGeom>
          <a:noFill/>
        </p:spPr>
        <p:txBody>
          <a:bodyPr wrap="square">
            <a:spAutoFit/>
          </a:bodyPr>
          <a:lstStyle/>
          <a:p>
            <a:pPr>
              <a:defRPr sz="1200">
                <a:solidFill>
                  <a:srgbClr val="334155"/>
                </a:solidFill>
                <a:latin typeface="Calibri"/>
              </a:defRPr>
            </a:pPr>
            <a:r>
              <a:t>Pastoral leadership, church order, and institution-building in Switzerland.</a:t>
            </a:r>
          </a:p>
        </p:txBody>
      </p:sp>
      <p:sp>
        <p:nvSpPr>
          <p:cNvPr id="15" name="Rounded Rectangle 14"/>
          <p:cNvSpPr/>
          <p:nvPr/>
        </p:nvSpPr>
        <p:spPr>
          <a:xfrm>
            <a:off x="6217920" y="2103120"/>
            <a:ext cx="2468880" cy="3840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0" y="2331720"/>
            <a:ext cx="640080" cy="36576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FFFFFF"/>
                </a:solidFill>
              </a:defRPr>
            </a:pPr>
            <a:r>
              <a:t>03</a:t>
            </a:r>
          </a:p>
        </p:txBody>
      </p:sp>
      <p:sp>
        <p:nvSpPr>
          <p:cNvPr id="17" name="TextBox 16"/>
          <p:cNvSpPr txBox="1"/>
          <p:nvPr/>
        </p:nvSpPr>
        <p:spPr>
          <a:xfrm>
            <a:off x="6400800" y="2834640"/>
            <a:ext cx="2103120" cy="914400"/>
          </a:xfrm>
          <a:prstGeom prst="rect">
            <a:avLst/>
          </a:prstGeom>
          <a:noFill/>
        </p:spPr>
        <p:txBody>
          <a:bodyPr wrap="square">
            <a:spAutoFit/>
          </a:bodyPr>
          <a:lstStyle/>
          <a:p>
            <a:pPr>
              <a:defRPr sz="1600" b="1">
                <a:solidFill>
                  <a:srgbClr val="0F172A"/>
                </a:solidFill>
                <a:latin typeface="Segoe UI"/>
              </a:defRPr>
            </a:pPr>
            <a:r>
              <a:t>Theological Foundations</a:t>
            </a:r>
          </a:p>
        </p:txBody>
      </p:sp>
      <p:sp>
        <p:nvSpPr>
          <p:cNvPr id="18" name="TextBox 17"/>
          <p:cNvSpPr txBox="1"/>
          <p:nvPr/>
        </p:nvSpPr>
        <p:spPr>
          <a:xfrm>
            <a:off x="6400800" y="3749040"/>
            <a:ext cx="2103120" cy="1920240"/>
          </a:xfrm>
          <a:prstGeom prst="rect">
            <a:avLst/>
          </a:prstGeom>
          <a:noFill/>
        </p:spPr>
        <p:txBody>
          <a:bodyPr wrap="square">
            <a:spAutoFit/>
          </a:bodyPr>
          <a:lstStyle/>
          <a:p>
            <a:pPr>
              <a:defRPr sz="1200">
                <a:solidFill>
                  <a:srgbClr val="334155"/>
                </a:solidFill>
                <a:latin typeface="Calibri"/>
              </a:defRPr>
            </a:pPr>
            <a:r>
              <a:t>Institutes of the Christian Religion, divine sovereignty, and grace.</a:t>
            </a:r>
          </a:p>
        </p:txBody>
      </p:sp>
      <p:sp>
        <p:nvSpPr>
          <p:cNvPr id="19" name="Rounded Rectangle 18"/>
          <p:cNvSpPr/>
          <p:nvPr/>
        </p:nvSpPr>
        <p:spPr>
          <a:xfrm>
            <a:off x="8961120" y="2103120"/>
            <a:ext cx="2468880" cy="38404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44000" y="2331720"/>
            <a:ext cx="640080" cy="36576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FFFFFF"/>
                </a:solidFill>
              </a:defRPr>
            </a:pPr>
            <a:r>
              <a:t>04</a:t>
            </a:r>
          </a:p>
        </p:txBody>
      </p:sp>
      <p:sp>
        <p:nvSpPr>
          <p:cNvPr id="21" name="TextBox 20"/>
          <p:cNvSpPr txBox="1"/>
          <p:nvPr/>
        </p:nvSpPr>
        <p:spPr>
          <a:xfrm>
            <a:off x="9144000" y="2834640"/>
            <a:ext cx="2103120" cy="914400"/>
          </a:xfrm>
          <a:prstGeom prst="rect">
            <a:avLst/>
          </a:prstGeom>
          <a:noFill/>
        </p:spPr>
        <p:txBody>
          <a:bodyPr wrap="square">
            <a:spAutoFit/>
          </a:bodyPr>
          <a:lstStyle/>
          <a:p>
            <a:pPr>
              <a:defRPr sz="1600" b="1">
                <a:solidFill>
                  <a:srgbClr val="0F172A"/>
                </a:solidFill>
                <a:latin typeface="Segoe UI"/>
              </a:defRPr>
            </a:pPr>
            <a:r>
              <a:t>Global Heritage &amp; Modern Impact</a:t>
            </a:r>
          </a:p>
        </p:txBody>
      </p:sp>
      <p:sp>
        <p:nvSpPr>
          <p:cNvPr id="22" name="TextBox 21"/>
          <p:cNvSpPr txBox="1"/>
          <p:nvPr/>
        </p:nvSpPr>
        <p:spPr>
          <a:xfrm>
            <a:off x="9144000" y="3749040"/>
            <a:ext cx="2103120" cy="1920240"/>
          </a:xfrm>
          <a:prstGeom prst="rect">
            <a:avLst/>
          </a:prstGeom>
          <a:noFill/>
        </p:spPr>
        <p:txBody>
          <a:bodyPr wrap="square">
            <a:spAutoFit/>
          </a:bodyPr>
          <a:lstStyle/>
          <a:p>
            <a:pPr>
              <a:defRPr sz="1200">
                <a:solidFill>
                  <a:srgbClr val="334155"/>
                </a:solidFill>
                <a:latin typeface="Calibri"/>
              </a:defRPr>
            </a:pPr>
            <a:r>
              <a:t>Dispersal across Europe and the Americas influencing democracy, education, and ethics.</a:t>
            </a:r>
          </a:p>
        </p:txBody>
      </p:sp>
      <p:sp>
        <p:nvSpPr>
          <p:cNvPr id="23" name="TextBox 22"/>
          <p:cNvSpPr txBox="1"/>
          <p:nvPr/>
        </p:nvSpPr>
        <p:spPr>
          <a:xfrm>
            <a:off x="10515600" y="6309360"/>
            <a:ext cx="914400" cy="320040"/>
          </a:xfrm>
          <a:prstGeom prst="rect">
            <a:avLst/>
          </a:prstGeom>
          <a:noFill/>
        </p:spPr>
        <p:txBody>
          <a:bodyPr wrap="none">
            <a:spAutoFit/>
          </a:bodyPr>
          <a:lstStyle/>
          <a:p>
            <a:pPr algn="r">
              <a:defRPr sz="1000">
                <a:solidFill>
                  <a:srgbClr val="94A3B8"/>
                </a:solidFill>
                <a:latin typeface="Calibri"/>
              </a:defRPr>
            </a:pPr>
            <a:r>
              <a:t>2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1E40AF"/>
                </a:solidFill>
                <a:latin typeface="Segoe UI"/>
              </a:defRPr>
            </a:pPr>
            <a:r>
              <a:t>METRICS &amp; MILESTONES</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Milestones of the Genevan Movement</a:t>
            </a:r>
          </a:p>
        </p:txBody>
      </p:sp>
      <p:sp>
        <p:nvSpPr>
          <p:cNvPr id="5" name="TextBox 4"/>
          <p:cNvSpPr txBox="1"/>
          <p:nvPr/>
        </p:nvSpPr>
        <p:spPr>
          <a:xfrm>
            <a:off x="731520" y="1188720"/>
            <a:ext cx="10698480" cy="365760"/>
          </a:xfrm>
          <a:prstGeom prst="rect">
            <a:avLst/>
          </a:prstGeom>
          <a:noFill/>
        </p:spPr>
        <p:txBody>
          <a:bodyPr wrap="square">
            <a:spAutoFit/>
          </a:bodyPr>
          <a:lstStyle/>
          <a:p>
            <a:pPr>
              <a:defRPr sz="1300">
                <a:solidFill>
                  <a:srgbClr val="334155"/>
                </a:solidFill>
                <a:latin typeface="Calibri"/>
              </a:defRPr>
            </a:pPr>
            <a:r>
              <a:t>Key dates, literary output, and institutional reach defining Calvin's lifetime</a:t>
            </a:r>
          </a:p>
        </p:txBody>
      </p:sp>
      <p:sp>
        <p:nvSpPr>
          <p:cNvPr id="6" name="Rectangle 5"/>
          <p:cNvSpPr/>
          <p:nvPr/>
        </p:nvSpPr>
        <p:spPr>
          <a:xfrm>
            <a:off x="731520" y="1554480"/>
            <a:ext cx="22860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011680"/>
            <a:ext cx="2400300" cy="3931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2148840"/>
            <a:ext cx="7315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331720"/>
            <a:ext cx="1943100" cy="731520"/>
          </a:xfrm>
          <a:prstGeom prst="rect">
            <a:avLst/>
          </a:prstGeom>
          <a:noFill/>
        </p:spPr>
        <p:txBody>
          <a:bodyPr wrap="square">
            <a:spAutoFit/>
          </a:bodyPr>
          <a:lstStyle/>
          <a:p>
            <a:pPr>
              <a:defRPr sz="2800" b="1">
                <a:solidFill>
                  <a:srgbClr val="1E40AF"/>
                </a:solidFill>
                <a:latin typeface="Segoe UI"/>
              </a:defRPr>
            </a:pPr>
            <a:r>
              <a:t>1536</a:t>
            </a:r>
          </a:p>
        </p:txBody>
      </p:sp>
      <p:sp>
        <p:nvSpPr>
          <p:cNvPr id="10" name="TextBox 9"/>
          <p:cNvSpPr txBox="1"/>
          <p:nvPr/>
        </p:nvSpPr>
        <p:spPr>
          <a:xfrm>
            <a:off x="960120" y="3063240"/>
            <a:ext cx="1943100" cy="731520"/>
          </a:xfrm>
          <a:prstGeom prst="rect">
            <a:avLst/>
          </a:prstGeom>
          <a:noFill/>
        </p:spPr>
        <p:txBody>
          <a:bodyPr wrap="square">
            <a:spAutoFit/>
          </a:bodyPr>
          <a:lstStyle/>
          <a:p>
            <a:pPr>
              <a:defRPr sz="1600" b="1">
                <a:solidFill>
                  <a:srgbClr val="0F172A"/>
                </a:solidFill>
                <a:latin typeface="Segoe UI"/>
              </a:defRPr>
            </a:pPr>
            <a:r>
              <a:t>Institutes Published</a:t>
            </a:r>
          </a:p>
        </p:txBody>
      </p:sp>
      <p:sp>
        <p:nvSpPr>
          <p:cNvPr id="11" name="TextBox 10"/>
          <p:cNvSpPr txBox="1"/>
          <p:nvPr/>
        </p:nvSpPr>
        <p:spPr>
          <a:xfrm>
            <a:off x="960120" y="3749040"/>
            <a:ext cx="1943100" cy="2011680"/>
          </a:xfrm>
          <a:prstGeom prst="rect">
            <a:avLst/>
          </a:prstGeom>
          <a:noFill/>
        </p:spPr>
        <p:txBody>
          <a:bodyPr wrap="square">
            <a:spAutoFit/>
          </a:bodyPr>
          <a:lstStyle/>
          <a:p>
            <a:pPr>
              <a:defRPr sz="1300">
                <a:solidFill>
                  <a:srgbClr val="334155"/>
                </a:solidFill>
                <a:latin typeface="Calibri"/>
              </a:defRPr>
            </a:pPr>
            <a:r>
              <a:t>First edition of Institutes of the Christian Religion published in Basel at age 26.</a:t>
            </a:r>
          </a:p>
        </p:txBody>
      </p:sp>
      <p:sp>
        <p:nvSpPr>
          <p:cNvPr id="12" name="Rounded Rectangle 11"/>
          <p:cNvSpPr/>
          <p:nvPr/>
        </p:nvSpPr>
        <p:spPr>
          <a:xfrm>
            <a:off x="3497580" y="2011680"/>
            <a:ext cx="2400300" cy="3931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80460" y="2148840"/>
            <a:ext cx="7315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26180" y="2331720"/>
            <a:ext cx="1943100" cy="731520"/>
          </a:xfrm>
          <a:prstGeom prst="rect">
            <a:avLst/>
          </a:prstGeom>
          <a:noFill/>
        </p:spPr>
        <p:txBody>
          <a:bodyPr wrap="square">
            <a:spAutoFit/>
          </a:bodyPr>
          <a:lstStyle/>
          <a:p>
            <a:pPr>
              <a:defRPr sz="2800" b="1">
                <a:solidFill>
                  <a:srgbClr val="1E40AF"/>
                </a:solidFill>
                <a:latin typeface="Segoe UI"/>
              </a:defRPr>
            </a:pPr>
            <a:r>
              <a:t>25+ Yrs</a:t>
            </a:r>
          </a:p>
        </p:txBody>
      </p:sp>
      <p:sp>
        <p:nvSpPr>
          <p:cNvPr id="15" name="TextBox 14"/>
          <p:cNvSpPr txBox="1"/>
          <p:nvPr/>
        </p:nvSpPr>
        <p:spPr>
          <a:xfrm>
            <a:off x="3726180" y="3063240"/>
            <a:ext cx="1943100" cy="731520"/>
          </a:xfrm>
          <a:prstGeom prst="rect">
            <a:avLst/>
          </a:prstGeom>
          <a:noFill/>
        </p:spPr>
        <p:txBody>
          <a:bodyPr wrap="square">
            <a:spAutoFit/>
          </a:bodyPr>
          <a:lstStyle/>
          <a:p>
            <a:pPr>
              <a:defRPr sz="1600" b="1">
                <a:solidFill>
                  <a:srgbClr val="0F172A"/>
                </a:solidFill>
                <a:latin typeface="Segoe UI"/>
              </a:defRPr>
            </a:pPr>
            <a:r>
              <a:t>Service in Geneva</a:t>
            </a:r>
          </a:p>
        </p:txBody>
      </p:sp>
      <p:sp>
        <p:nvSpPr>
          <p:cNvPr id="16" name="TextBox 15"/>
          <p:cNvSpPr txBox="1"/>
          <p:nvPr/>
        </p:nvSpPr>
        <p:spPr>
          <a:xfrm>
            <a:off x="3726180" y="3749040"/>
            <a:ext cx="1943100" cy="2011680"/>
          </a:xfrm>
          <a:prstGeom prst="rect">
            <a:avLst/>
          </a:prstGeom>
          <a:noFill/>
        </p:spPr>
        <p:txBody>
          <a:bodyPr wrap="square">
            <a:spAutoFit/>
          </a:bodyPr>
          <a:lstStyle/>
          <a:p>
            <a:pPr>
              <a:defRPr sz="1300">
                <a:solidFill>
                  <a:srgbClr val="334155"/>
                </a:solidFill>
                <a:latin typeface="Calibri"/>
              </a:defRPr>
            </a:pPr>
            <a:r>
              <a:t>Guided the religious, legal, and educational life of Geneva across two key tenures.</a:t>
            </a:r>
          </a:p>
        </p:txBody>
      </p:sp>
      <p:sp>
        <p:nvSpPr>
          <p:cNvPr id="17" name="Rounded Rectangle 16"/>
          <p:cNvSpPr/>
          <p:nvPr/>
        </p:nvSpPr>
        <p:spPr>
          <a:xfrm>
            <a:off x="6263640" y="2011680"/>
            <a:ext cx="2400300" cy="3931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46520" y="2148840"/>
            <a:ext cx="7315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2331720"/>
            <a:ext cx="1943100" cy="731520"/>
          </a:xfrm>
          <a:prstGeom prst="rect">
            <a:avLst/>
          </a:prstGeom>
          <a:noFill/>
        </p:spPr>
        <p:txBody>
          <a:bodyPr wrap="square">
            <a:spAutoFit/>
          </a:bodyPr>
          <a:lstStyle/>
          <a:p>
            <a:pPr>
              <a:defRPr sz="2800" b="1">
                <a:solidFill>
                  <a:srgbClr val="1E40AF"/>
                </a:solidFill>
                <a:latin typeface="Segoe UI"/>
              </a:defRPr>
            </a:pPr>
            <a:r>
              <a:t>4 Vols</a:t>
            </a:r>
          </a:p>
        </p:txBody>
      </p:sp>
      <p:sp>
        <p:nvSpPr>
          <p:cNvPr id="20" name="TextBox 19"/>
          <p:cNvSpPr txBox="1"/>
          <p:nvPr/>
        </p:nvSpPr>
        <p:spPr>
          <a:xfrm>
            <a:off x="6492240" y="3063240"/>
            <a:ext cx="1943100" cy="731520"/>
          </a:xfrm>
          <a:prstGeom prst="rect">
            <a:avLst/>
          </a:prstGeom>
          <a:noFill/>
        </p:spPr>
        <p:txBody>
          <a:bodyPr wrap="square">
            <a:spAutoFit/>
          </a:bodyPr>
          <a:lstStyle/>
          <a:p>
            <a:pPr>
              <a:defRPr sz="1600" b="1">
                <a:solidFill>
                  <a:srgbClr val="0F172A"/>
                </a:solidFill>
                <a:latin typeface="Segoe UI"/>
              </a:defRPr>
            </a:pPr>
            <a:r>
              <a:t>Definitive Edition</a:t>
            </a:r>
          </a:p>
        </p:txBody>
      </p:sp>
      <p:sp>
        <p:nvSpPr>
          <p:cNvPr id="21" name="TextBox 20"/>
          <p:cNvSpPr txBox="1"/>
          <p:nvPr/>
        </p:nvSpPr>
        <p:spPr>
          <a:xfrm>
            <a:off x="6492240" y="3749040"/>
            <a:ext cx="1943100" cy="2011680"/>
          </a:xfrm>
          <a:prstGeom prst="rect">
            <a:avLst/>
          </a:prstGeom>
          <a:noFill/>
        </p:spPr>
        <p:txBody>
          <a:bodyPr wrap="square">
            <a:spAutoFit/>
          </a:bodyPr>
          <a:lstStyle/>
          <a:p>
            <a:pPr>
              <a:defRPr sz="1300">
                <a:solidFill>
                  <a:srgbClr val="334155"/>
                </a:solidFill>
                <a:latin typeface="Calibri"/>
              </a:defRPr>
            </a:pPr>
            <a:r>
              <a:t>Expanded from 6 chapters in 1536 to 80 chapters across four definitive books by 1559.</a:t>
            </a:r>
          </a:p>
        </p:txBody>
      </p:sp>
      <p:sp>
        <p:nvSpPr>
          <p:cNvPr id="22" name="Rounded Rectangle 21"/>
          <p:cNvSpPr/>
          <p:nvPr/>
        </p:nvSpPr>
        <p:spPr>
          <a:xfrm>
            <a:off x="9029700" y="2011680"/>
            <a:ext cx="2400300" cy="3931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12580" y="2148840"/>
            <a:ext cx="7315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58300" y="2331720"/>
            <a:ext cx="1943100" cy="731520"/>
          </a:xfrm>
          <a:prstGeom prst="rect">
            <a:avLst/>
          </a:prstGeom>
          <a:noFill/>
        </p:spPr>
        <p:txBody>
          <a:bodyPr wrap="square">
            <a:spAutoFit/>
          </a:bodyPr>
          <a:lstStyle/>
          <a:p>
            <a:pPr>
              <a:defRPr sz="2800" b="1">
                <a:solidFill>
                  <a:srgbClr val="1E40AF"/>
                </a:solidFill>
                <a:latin typeface="Segoe UI"/>
              </a:defRPr>
            </a:pPr>
            <a:r>
              <a:t>500+</a:t>
            </a:r>
          </a:p>
        </p:txBody>
      </p:sp>
      <p:sp>
        <p:nvSpPr>
          <p:cNvPr id="25" name="TextBox 24"/>
          <p:cNvSpPr txBox="1"/>
          <p:nvPr/>
        </p:nvSpPr>
        <p:spPr>
          <a:xfrm>
            <a:off x="9258300" y="3063240"/>
            <a:ext cx="1943100" cy="731520"/>
          </a:xfrm>
          <a:prstGeom prst="rect">
            <a:avLst/>
          </a:prstGeom>
          <a:noFill/>
        </p:spPr>
        <p:txBody>
          <a:bodyPr wrap="square">
            <a:spAutoFit/>
          </a:bodyPr>
          <a:lstStyle/>
          <a:p>
            <a:pPr>
              <a:defRPr sz="1600" b="1">
                <a:solidFill>
                  <a:srgbClr val="0F172A"/>
                </a:solidFill>
                <a:latin typeface="Segoe UI"/>
              </a:defRPr>
            </a:pPr>
            <a:r>
              <a:t>Pastors Deployed</a:t>
            </a:r>
          </a:p>
        </p:txBody>
      </p:sp>
      <p:sp>
        <p:nvSpPr>
          <p:cNvPr id="26" name="TextBox 25"/>
          <p:cNvSpPr txBox="1"/>
          <p:nvPr/>
        </p:nvSpPr>
        <p:spPr>
          <a:xfrm>
            <a:off x="9258300" y="3749040"/>
            <a:ext cx="1943100" cy="2011680"/>
          </a:xfrm>
          <a:prstGeom prst="rect">
            <a:avLst/>
          </a:prstGeom>
          <a:noFill/>
        </p:spPr>
        <p:txBody>
          <a:bodyPr wrap="square">
            <a:spAutoFit/>
          </a:bodyPr>
          <a:lstStyle/>
          <a:p>
            <a:pPr>
              <a:defRPr sz="1300">
                <a:solidFill>
                  <a:srgbClr val="334155"/>
                </a:solidFill>
                <a:latin typeface="Calibri"/>
              </a:defRPr>
            </a:pPr>
            <a:r>
              <a:t>Trained and dispatched hundreds of reformed pastors and missionaries across Europe.</a:t>
            </a:r>
          </a:p>
        </p:txBody>
      </p:sp>
      <p:sp>
        <p:nvSpPr>
          <p:cNvPr id="27" name="TextBox 26"/>
          <p:cNvSpPr txBox="1"/>
          <p:nvPr/>
        </p:nvSpPr>
        <p:spPr>
          <a:xfrm>
            <a:off x="10515600" y="6309360"/>
            <a:ext cx="914400" cy="320040"/>
          </a:xfrm>
          <a:prstGeom prst="rect">
            <a:avLst/>
          </a:prstGeom>
          <a:noFill/>
        </p:spPr>
        <p:txBody>
          <a:bodyPr wrap="none">
            <a:spAutoFit/>
          </a:bodyPr>
          <a:lstStyle/>
          <a:p>
            <a:pPr algn="r">
              <a:defRPr sz="1000">
                <a:solidFill>
                  <a:srgbClr val="94A3B8"/>
                </a:solidFill>
                <a:latin typeface="Calibri"/>
              </a:defRPr>
            </a:pPr>
            <a:r>
              <a:t>3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1E40AF"/>
                </a:solidFill>
                <a:latin typeface="Segoe UI"/>
              </a:defRPr>
            </a:pPr>
            <a:r>
              <a:t>COMPARATIVE ANALYSIS</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Theology and Civic Governance</a:t>
            </a:r>
          </a:p>
        </p:txBody>
      </p:sp>
      <p:sp>
        <p:nvSpPr>
          <p:cNvPr id="5" name="TextBox 4"/>
          <p:cNvSpPr txBox="1"/>
          <p:nvPr/>
        </p:nvSpPr>
        <p:spPr>
          <a:xfrm>
            <a:off x="731520" y="1188720"/>
            <a:ext cx="10698480" cy="365760"/>
          </a:xfrm>
          <a:prstGeom prst="rect">
            <a:avLst/>
          </a:prstGeom>
          <a:noFill/>
        </p:spPr>
        <p:txBody>
          <a:bodyPr wrap="square">
            <a:spAutoFit/>
          </a:bodyPr>
          <a:lstStyle/>
          <a:p>
            <a:pPr>
              <a:defRPr sz="1300">
                <a:solidFill>
                  <a:srgbClr val="334155"/>
                </a:solidFill>
                <a:latin typeface="Calibri"/>
              </a:defRPr>
            </a:pPr>
            <a:r>
              <a:t>Harmonizing core spiritual doctrines with practical church governance and civic welfare</a:t>
            </a:r>
          </a:p>
        </p:txBody>
      </p:sp>
      <p:sp>
        <p:nvSpPr>
          <p:cNvPr id="6" name="Rectangle 5"/>
          <p:cNvSpPr/>
          <p:nvPr/>
        </p:nvSpPr>
        <p:spPr>
          <a:xfrm>
            <a:off x="731520" y="1554480"/>
            <a:ext cx="22860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5120640" cy="4114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194560"/>
            <a:ext cx="4389120" cy="548640"/>
          </a:xfrm>
          <a:prstGeom prst="rect">
            <a:avLst/>
          </a:prstGeom>
          <a:noFill/>
        </p:spPr>
        <p:txBody>
          <a:bodyPr wrap="square">
            <a:spAutoFit/>
          </a:bodyPr>
          <a:lstStyle/>
          <a:p>
            <a:pPr>
              <a:defRPr sz="1800" b="1">
                <a:solidFill>
                  <a:srgbClr val="1E40AF"/>
                </a:solidFill>
                <a:latin typeface="Segoe UI"/>
              </a:defRPr>
            </a:pPr>
            <a:r>
              <a:t>Theological Pillars</a:t>
            </a:r>
          </a:p>
        </p:txBody>
      </p:sp>
      <p:sp>
        <p:nvSpPr>
          <p:cNvPr id="9" name="TextBox 8"/>
          <p:cNvSpPr txBox="1"/>
          <p:nvPr/>
        </p:nvSpPr>
        <p:spPr>
          <a:xfrm>
            <a:off x="1097280" y="2834640"/>
            <a:ext cx="4389120" cy="2926080"/>
          </a:xfrm>
          <a:prstGeom prst="rect">
            <a:avLst/>
          </a:prstGeom>
          <a:noFill/>
        </p:spPr>
        <p:txBody>
          <a:bodyPr wrap="square">
            <a:spAutoFit/>
          </a:bodyPr>
          <a:lstStyle/>
          <a:p>
            <a:pPr>
              <a:spcAft>
                <a:spcPts val="1000"/>
              </a:spcAft>
              <a:defRPr sz="1300">
                <a:solidFill>
                  <a:srgbClr val="334155"/>
                </a:solidFill>
                <a:latin typeface="Calibri"/>
              </a:defRPr>
            </a:pPr>
            <a:r>
              <a:t>•  Absolute Sovereignty of God as the supreme governing reality of creation and history.</a:t>
            </a:r>
          </a:p>
          <a:p>
            <a:pPr>
              <a:spcAft>
                <a:spcPts val="1000"/>
              </a:spcAft>
              <a:defRPr sz="1300">
                <a:solidFill>
                  <a:srgbClr val="334155"/>
                </a:solidFill>
                <a:latin typeface="Calibri"/>
              </a:defRPr>
            </a:pPr>
            <a:r>
              <a:t>•  Justification by faith alone and salvation grounded entirely in sovereign divine grace.</a:t>
            </a:r>
          </a:p>
          <a:p>
            <a:pPr>
              <a:spcAft>
                <a:spcPts val="1000"/>
              </a:spcAft>
              <a:defRPr sz="1300">
                <a:solidFill>
                  <a:srgbClr val="334155"/>
                </a:solidFill>
                <a:latin typeface="Calibri"/>
              </a:defRPr>
            </a:pPr>
            <a:r>
              <a:t>•  Sola Scriptura: Scripture held as the normative authority for faith and worship.</a:t>
            </a:r>
          </a:p>
          <a:p>
            <a:pPr>
              <a:spcAft>
                <a:spcPts val="1000"/>
              </a:spcAft>
              <a:defRPr sz="1300">
                <a:solidFill>
                  <a:srgbClr val="334155"/>
                </a:solidFill>
                <a:latin typeface="Calibri"/>
              </a:defRPr>
            </a:pPr>
            <a:r>
              <a:t>•  Covenantal continuity connecting the Old and New Testaments.</a:t>
            </a:r>
          </a:p>
        </p:txBody>
      </p:sp>
      <p:sp>
        <p:nvSpPr>
          <p:cNvPr id="10" name="Rounded Rectangle 9"/>
          <p:cNvSpPr/>
          <p:nvPr/>
        </p:nvSpPr>
        <p:spPr>
          <a:xfrm>
            <a:off x="6309360" y="1920240"/>
            <a:ext cx="5120640" cy="4114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2194560"/>
            <a:ext cx="4389120" cy="548640"/>
          </a:xfrm>
          <a:prstGeom prst="rect">
            <a:avLst/>
          </a:prstGeom>
          <a:noFill/>
        </p:spPr>
        <p:txBody>
          <a:bodyPr wrap="square">
            <a:spAutoFit/>
          </a:bodyPr>
          <a:lstStyle/>
          <a:p>
            <a:pPr>
              <a:defRPr sz="1800" b="1">
                <a:solidFill>
                  <a:srgbClr val="0F172A"/>
                </a:solidFill>
                <a:latin typeface="Segoe UI"/>
              </a:defRPr>
            </a:pPr>
            <a:r>
              <a:t>Genevan Civic Order</a:t>
            </a:r>
          </a:p>
        </p:txBody>
      </p:sp>
      <p:sp>
        <p:nvSpPr>
          <p:cNvPr id="12" name="TextBox 11"/>
          <p:cNvSpPr txBox="1"/>
          <p:nvPr/>
        </p:nvSpPr>
        <p:spPr>
          <a:xfrm>
            <a:off x="6675120" y="2834640"/>
            <a:ext cx="4389120" cy="2926080"/>
          </a:xfrm>
          <a:prstGeom prst="rect">
            <a:avLst/>
          </a:prstGeom>
          <a:noFill/>
        </p:spPr>
        <p:txBody>
          <a:bodyPr wrap="square">
            <a:spAutoFit/>
          </a:bodyPr>
          <a:lstStyle/>
          <a:p>
            <a:pPr>
              <a:spcAft>
                <a:spcPts val="1000"/>
              </a:spcAft>
              <a:defRPr sz="1300">
                <a:solidFill>
                  <a:srgbClr val="334155"/>
                </a:solidFill>
                <a:latin typeface="Calibri"/>
              </a:defRPr>
            </a:pPr>
            <a:r>
              <a:t>•  Ecclesiastical Ordinances (1541) instituting four ministries: pastors, teachers, elders, deacons.</a:t>
            </a:r>
          </a:p>
          <a:p>
            <a:pPr>
              <a:spcAft>
                <a:spcPts val="1000"/>
              </a:spcAft>
              <a:defRPr sz="1300">
                <a:solidFill>
                  <a:srgbClr val="334155"/>
                </a:solidFill>
                <a:latin typeface="Calibri"/>
              </a:defRPr>
            </a:pPr>
            <a:r>
              <a:t>•  The Consistory: Collaborative oversight of public ethics, pastoral care, and mediation.</a:t>
            </a:r>
          </a:p>
          <a:p>
            <a:pPr>
              <a:spcAft>
                <a:spcPts val="1000"/>
              </a:spcAft>
              <a:defRPr sz="1300">
                <a:solidFill>
                  <a:srgbClr val="334155"/>
                </a:solidFill>
                <a:latin typeface="Calibri"/>
              </a:defRPr>
            </a:pPr>
            <a:r>
              <a:t>•  Geneva Academy (1559): Rigorous theological and liberal arts training for European youth.</a:t>
            </a:r>
          </a:p>
          <a:p>
            <a:pPr>
              <a:spcAft>
                <a:spcPts val="1000"/>
              </a:spcAft>
              <a:defRPr sz="1300">
                <a:solidFill>
                  <a:srgbClr val="334155"/>
                </a:solidFill>
                <a:latin typeface="Calibri"/>
              </a:defRPr>
            </a:pPr>
            <a:r>
              <a:t>•  Structured diaconal poor relief and systematic refugee integration for religious exiles.</a:t>
            </a:r>
          </a:p>
        </p:txBody>
      </p:sp>
      <p:sp>
        <p:nvSpPr>
          <p:cNvPr id="13" name="TextBox 12"/>
          <p:cNvSpPr txBox="1"/>
          <p:nvPr/>
        </p:nvSpPr>
        <p:spPr>
          <a:xfrm>
            <a:off x="10515600" y="6309360"/>
            <a:ext cx="914400" cy="320040"/>
          </a:xfrm>
          <a:prstGeom prst="rect">
            <a:avLst/>
          </a:prstGeom>
          <a:noFill/>
        </p:spPr>
        <p:txBody>
          <a:bodyPr wrap="none">
            <a:spAutoFit/>
          </a:bodyPr>
          <a:lstStyle/>
          <a:p>
            <a:pPr algn="r">
              <a:defRPr sz="1000">
                <a:solidFill>
                  <a:srgbClr val="94A3B8"/>
                </a:solidFill>
                <a:latin typeface="Calibri"/>
              </a:defRPr>
            </a:pPr>
            <a:r>
              <a:t>4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1E40AF"/>
                </a:solidFill>
                <a:latin typeface="Segoe UI"/>
              </a:defRPr>
            </a:pPr>
            <a:r>
              <a:t>DOCTRINAL HERITAGE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Enduring Theological Contributions</a:t>
            </a:r>
          </a:p>
        </p:txBody>
      </p:sp>
      <p:sp>
        <p:nvSpPr>
          <p:cNvPr id="5" name="TextBox 4"/>
          <p:cNvSpPr txBox="1"/>
          <p:nvPr/>
        </p:nvSpPr>
        <p:spPr>
          <a:xfrm>
            <a:off x="731520" y="1188720"/>
            <a:ext cx="10698480" cy="365760"/>
          </a:xfrm>
          <a:prstGeom prst="rect">
            <a:avLst/>
          </a:prstGeom>
          <a:noFill/>
        </p:spPr>
        <p:txBody>
          <a:bodyPr wrap="square">
            <a:spAutoFit/>
          </a:bodyPr>
          <a:lstStyle/>
          <a:p>
            <a:pPr>
              <a:defRPr sz="1300">
                <a:solidFill>
                  <a:srgbClr val="334155"/>
                </a:solidFill>
                <a:latin typeface="Calibri"/>
              </a:defRPr>
            </a:pPr>
            <a:r>
              <a:t>How Calvin's writings and liturgical reforms reshaped Christian worship and thought</a:t>
            </a:r>
          </a:p>
        </p:txBody>
      </p:sp>
      <p:sp>
        <p:nvSpPr>
          <p:cNvPr id="6" name="Rectangle 5"/>
          <p:cNvSpPr/>
          <p:nvPr/>
        </p:nvSpPr>
        <p:spPr>
          <a:xfrm>
            <a:off x="731520" y="1554480"/>
            <a:ext cx="22860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01168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011680"/>
            <a:ext cx="109728" cy="8686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48840"/>
            <a:ext cx="10058400" cy="594360"/>
          </a:xfrm>
          <a:prstGeom prst="rect">
            <a:avLst/>
          </a:prstGeom>
          <a:noFill/>
        </p:spPr>
        <p:txBody>
          <a:bodyPr wrap="square">
            <a:spAutoFit/>
          </a:bodyPr>
          <a:lstStyle/>
          <a:p>
            <a:pPr>
              <a:defRPr sz="1500" b="1">
                <a:solidFill>
                  <a:srgbClr val="0F172A"/>
                </a:solidFill>
                <a:latin typeface="Segoe UI"/>
              </a:defRPr>
            </a:pPr>
            <a:r>
              <a:t>Institutes of the Christian Religion</a:t>
            </a:r>
          </a:p>
          <a:p>
            <a:pPr>
              <a:defRPr sz="1200">
                <a:solidFill>
                  <a:srgbClr val="334155"/>
                </a:solidFill>
                <a:latin typeface="Calibri"/>
              </a:defRPr>
            </a:pPr>
            <a:r>
              <a:t>A coherent, systematic presentation of Christian faith, written for both university scholars and lay believers.</a:t>
            </a:r>
          </a:p>
        </p:txBody>
      </p:sp>
      <p:sp>
        <p:nvSpPr>
          <p:cNvPr id="10" name="Rounded Rectangle 9"/>
          <p:cNvSpPr/>
          <p:nvPr/>
        </p:nvSpPr>
        <p:spPr>
          <a:xfrm>
            <a:off x="731520" y="306324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063240"/>
            <a:ext cx="109728" cy="8686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200400"/>
            <a:ext cx="10058400" cy="594360"/>
          </a:xfrm>
          <a:prstGeom prst="rect">
            <a:avLst/>
          </a:prstGeom>
          <a:noFill/>
        </p:spPr>
        <p:txBody>
          <a:bodyPr wrap="square">
            <a:spAutoFit/>
          </a:bodyPr>
          <a:lstStyle/>
          <a:p>
            <a:pPr>
              <a:defRPr sz="1500" b="1">
                <a:solidFill>
                  <a:srgbClr val="0F172A"/>
                </a:solidFill>
                <a:latin typeface="Segoe UI"/>
              </a:defRPr>
            </a:pPr>
            <a:r>
              <a:t>Expository Commentaries</a:t>
            </a:r>
          </a:p>
          <a:p>
            <a:pPr>
              <a:defRPr sz="1200">
                <a:solidFill>
                  <a:srgbClr val="334155"/>
                </a:solidFill>
                <a:latin typeface="Calibri"/>
              </a:defRPr>
            </a:pPr>
            <a:r>
              <a:t>Expositional commentaries across nearly every book of the Bible, famed for lucidity and brevity.</a:t>
            </a:r>
          </a:p>
        </p:txBody>
      </p:sp>
      <p:sp>
        <p:nvSpPr>
          <p:cNvPr id="13" name="Rounded Rectangle 12"/>
          <p:cNvSpPr/>
          <p:nvPr/>
        </p:nvSpPr>
        <p:spPr>
          <a:xfrm>
            <a:off x="731520" y="411480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114800"/>
            <a:ext cx="109728" cy="86868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251960"/>
            <a:ext cx="10058400" cy="594360"/>
          </a:xfrm>
          <a:prstGeom prst="rect">
            <a:avLst/>
          </a:prstGeom>
          <a:noFill/>
        </p:spPr>
        <p:txBody>
          <a:bodyPr wrap="square">
            <a:spAutoFit/>
          </a:bodyPr>
          <a:lstStyle/>
          <a:p>
            <a:pPr>
              <a:defRPr sz="1500" b="1">
                <a:solidFill>
                  <a:srgbClr val="0F172A"/>
                </a:solidFill>
                <a:latin typeface="Segoe UI"/>
              </a:defRPr>
            </a:pPr>
            <a:r>
              <a:t>Liturgical Reformation</a:t>
            </a:r>
          </a:p>
          <a:p>
            <a:pPr>
              <a:defRPr sz="1200">
                <a:solidFill>
                  <a:srgbClr val="334155"/>
                </a:solidFill>
                <a:latin typeface="Calibri"/>
              </a:defRPr>
            </a:pPr>
            <a:r>
              <a:t>Vernacular preaching, congregational psalm singing, and two biblical sacraments: Baptism and the Lord's Supper.</a:t>
            </a:r>
          </a:p>
        </p:txBody>
      </p:sp>
      <p:sp>
        <p:nvSpPr>
          <p:cNvPr id="16" name="Rounded Rectangle 15"/>
          <p:cNvSpPr/>
          <p:nvPr/>
        </p:nvSpPr>
        <p:spPr>
          <a:xfrm>
            <a:off x="731520" y="5166360"/>
            <a:ext cx="10698480" cy="868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166360"/>
            <a:ext cx="109728" cy="8686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5303520"/>
            <a:ext cx="10058400" cy="594360"/>
          </a:xfrm>
          <a:prstGeom prst="rect">
            <a:avLst/>
          </a:prstGeom>
          <a:noFill/>
        </p:spPr>
        <p:txBody>
          <a:bodyPr wrap="square">
            <a:spAutoFit/>
          </a:bodyPr>
          <a:lstStyle/>
          <a:p>
            <a:pPr>
              <a:defRPr sz="1500" b="1">
                <a:solidFill>
                  <a:srgbClr val="0F172A"/>
                </a:solidFill>
                <a:latin typeface="Segoe UI"/>
              </a:defRPr>
            </a:pPr>
            <a:r>
              <a:t>The Sanctification of Daily Labor</a:t>
            </a:r>
          </a:p>
          <a:p>
            <a:pPr>
              <a:defRPr sz="1200">
                <a:solidFill>
                  <a:srgbClr val="334155"/>
                </a:solidFill>
                <a:latin typeface="Calibri"/>
              </a:defRPr>
            </a:pPr>
            <a:r>
              <a:t>Elevated ordinary vocations, declaring all honest human work as an avenue to serve and glorify God.</a:t>
            </a:r>
          </a:p>
        </p:txBody>
      </p:sp>
      <p:sp>
        <p:nvSpPr>
          <p:cNvPr id="19" name="TextBox 18"/>
          <p:cNvSpPr txBox="1"/>
          <p:nvPr/>
        </p:nvSpPr>
        <p:spPr>
          <a:xfrm>
            <a:off x="10515600" y="6309360"/>
            <a:ext cx="914400" cy="320040"/>
          </a:xfrm>
          <a:prstGeom prst="rect">
            <a:avLst/>
          </a:prstGeom>
          <a:noFill/>
        </p:spPr>
        <p:txBody>
          <a:bodyPr wrap="none">
            <a:spAutoFit/>
          </a:bodyPr>
          <a:lstStyle/>
          <a:p>
            <a:pPr algn="r">
              <a:defRPr sz="1000">
                <a:solidFill>
                  <a:srgbClr val="94A3B8"/>
                </a:solidFill>
                <a:latin typeface="Calibri"/>
              </a:defRPr>
            </a:pPr>
            <a:r>
              <a:t>5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1E40AF"/>
                </a:solidFill>
                <a:latin typeface="Segoe UI"/>
              </a:defRPr>
            </a:pPr>
            <a:r>
              <a:t>CONCLUSION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0F172A"/>
                </a:solidFill>
                <a:latin typeface="Segoe UI"/>
              </a:defRPr>
            </a:pPr>
            <a:r>
              <a:t>Legacy and Historical Impact</a:t>
            </a:r>
          </a:p>
        </p:txBody>
      </p:sp>
      <p:sp>
        <p:nvSpPr>
          <p:cNvPr id="5" name="TextBox 4"/>
          <p:cNvSpPr txBox="1"/>
          <p:nvPr/>
        </p:nvSpPr>
        <p:spPr>
          <a:xfrm>
            <a:off x="731520" y="1188720"/>
            <a:ext cx="10698480" cy="365760"/>
          </a:xfrm>
          <a:prstGeom prst="rect">
            <a:avLst/>
          </a:prstGeom>
          <a:noFill/>
        </p:spPr>
        <p:txBody>
          <a:bodyPr wrap="square">
            <a:spAutoFit/>
          </a:bodyPr>
          <a:lstStyle/>
          <a:p>
            <a:pPr>
              <a:defRPr sz="1300">
                <a:solidFill>
                  <a:srgbClr val="334155"/>
                </a:solidFill>
                <a:latin typeface="Calibri"/>
              </a:defRPr>
            </a:pPr>
            <a:r>
              <a:t>Summary &amp; Path Forward</a:t>
            </a:r>
          </a:p>
        </p:txBody>
      </p:sp>
      <p:sp>
        <p:nvSpPr>
          <p:cNvPr id="6" name="Rectangle 5"/>
          <p:cNvSpPr/>
          <p:nvPr/>
        </p:nvSpPr>
        <p:spPr>
          <a:xfrm>
            <a:off x="731520" y="1554480"/>
            <a:ext cx="22860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2011680"/>
            <a:ext cx="6400800" cy="3931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86000"/>
            <a:ext cx="5669280" cy="3383280"/>
          </a:xfrm>
          <a:prstGeom prst="rect">
            <a:avLst/>
          </a:prstGeom>
          <a:noFill/>
        </p:spPr>
        <p:txBody>
          <a:bodyPr wrap="square">
            <a:spAutoFit/>
          </a:bodyPr>
          <a:lstStyle/>
          <a:p>
            <a:pPr>
              <a:spcAft>
                <a:spcPts val="1200"/>
              </a:spcAft>
              <a:defRPr sz="1800" b="1">
                <a:solidFill>
                  <a:srgbClr val="0F172A"/>
                </a:solidFill>
                <a:latin typeface="Segoe UI"/>
              </a:defRPr>
            </a:pPr>
            <a:r>
              <a:t>Key Takeaways</a:t>
            </a:r>
          </a:p>
          <a:p>
            <a:pPr>
              <a:spcAft>
                <a:spcPts val="1000"/>
              </a:spcAft>
              <a:defRPr sz="1300">
                <a:solidFill>
                  <a:srgbClr val="334155"/>
                </a:solidFill>
                <a:latin typeface="Calibri"/>
              </a:defRPr>
            </a:pPr>
            <a:r>
              <a:t>✔  Synthesized Reformation thought into an enduring, globally exported theological system.</a:t>
            </a:r>
          </a:p>
          <a:p>
            <a:pPr>
              <a:spcAft>
                <a:spcPts val="1000"/>
              </a:spcAft>
              <a:defRPr sz="1300">
                <a:solidFill>
                  <a:srgbClr val="334155"/>
                </a:solidFill>
                <a:latin typeface="Calibri"/>
              </a:defRPr>
            </a:pPr>
            <a:r>
              <a:t>✔  Pioneered representative church governance that influenced modern constitutional theory.</a:t>
            </a:r>
          </a:p>
          <a:p>
            <a:pPr>
              <a:spcAft>
                <a:spcPts val="1000"/>
              </a:spcAft>
              <a:defRPr sz="1300">
                <a:solidFill>
                  <a:srgbClr val="334155"/>
                </a:solidFill>
                <a:latin typeface="Calibri"/>
              </a:defRPr>
            </a:pPr>
            <a:r>
              <a:t>✔  Promoted universal education, public literacy, and institutionalized care for the vulnerable.</a:t>
            </a:r>
          </a:p>
          <a:p>
            <a:pPr>
              <a:spcAft>
                <a:spcPts val="1000"/>
              </a:spcAft>
              <a:defRPr sz="1300">
                <a:solidFill>
                  <a:srgbClr val="334155"/>
                </a:solidFill>
                <a:latin typeface="Calibri"/>
              </a:defRPr>
            </a:pPr>
            <a:r>
              <a:t>✔  Fostered an ethic of stewardship and civic responsibility that reshaped Western culture.</a:t>
            </a:r>
          </a:p>
        </p:txBody>
      </p:sp>
      <p:sp>
        <p:nvSpPr>
          <p:cNvPr id="9" name="Rounded Rectangle 8"/>
          <p:cNvSpPr/>
          <p:nvPr/>
        </p:nvSpPr>
        <p:spPr>
          <a:xfrm>
            <a:off x="7498079" y="2011680"/>
            <a:ext cx="3931920" cy="393192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2468880"/>
            <a:ext cx="3200400" cy="3017520"/>
          </a:xfrm>
          <a:prstGeom prst="rect">
            <a:avLst/>
          </a:prstGeom>
          <a:noFill/>
        </p:spPr>
        <p:txBody>
          <a:bodyPr wrap="square">
            <a:spAutoFit/>
          </a:bodyPr>
          <a:lstStyle/>
          <a:p>
            <a:pPr>
              <a:spcAft>
                <a:spcPts val="1400"/>
              </a:spcAft>
              <a:defRPr sz="2000" b="1">
                <a:solidFill>
                  <a:srgbClr val="F59E0B"/>
                </a:solidFill>
                <a:latin typeface="Segoe UI"/>
              </a:defRPr>
            </a:pPr>
            <a:r>
              <a:t>Next Steps &amp; Q&amp;A</a:t>
            </a:r>
          </a:p>
          <a:p>
            <a:pPr>
              <a:spcAft>
                <a:spcPts val="1400"/>
              </a:spcAft>
              <a:defRPr sz="1300">
                <a:solidFill>
                  <a:srgbClr val="FFFFFF"/>
                </a:solidFill>
                <a:latin typeface="Calibri"/>
              </a:defRPr>
            </a:pPr>
            <a:r>
              <a:t>Engage with Calvin's primary writings and historical context to appreciate his nuanced contributions beyond caricatures.</a:t>
            </a:r>
          </a:p>
          <a:p>
            <a:pPr>
              <a:defRPr sz="1300" b="1">
                <a:solidFill>
                  <a:srgbClr val="94A3B8"/>
                </a:solidFill>
                <a:latin typeface="Segoe UI"/>
              </a:defRPr>
            </a:pPr>
            <a:r>
              <a:t>Thank you! Questions or comments are welcome.</a:t>
            </a:r>
          </a:p>
        </p:txBody>
      </p:sp>
      <p:sp>
        <p:nvSpPr>
          <p:cNvPr id="11" name="TextBox 10"/>
          <p:cNvSpPr txBox="1"/>
          <p:nvPr/>
        </p:nvSpPr>
        <p:spPr>
          <a:xfrm>
            <a:off x="10515600" y="6309360"/>
            <a:ext cx="914400" cy="320040"/>
          </a:xfrm>
          <a:prstGeom prst="rect">
            <a:avLst/>
          </a:prstGeom>
          <a:noFill/>
        </p:spPr>
        <p:txBody>
          <a:bodyPr wrap="none">
            <a:spAutoFit/>
          </a:bodyPr>
          <a:lstStyle/>
          <a:p>
            <a:pPr algn="r">
              <a:defRPr sz="1000">
                <a:solidFill>
                  <a:srgbClr val="94A3B8"/>
                </a:solidFill>
                <a:latin typeface="Calibri"/>
              </a:defRPr>
            </a:pPr>
            <a: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